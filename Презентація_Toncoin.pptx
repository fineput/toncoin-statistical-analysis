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99FF"/>
                </a:solidFill>
              </a:defRPr>
            </a:pPr>
            <a:r>
              <a:t>Статистичний аналіз ціни Toncoin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Курсова робота</a:t>
            </a:r>
          </a:p>
          <a:p>
            <a:pPr>
              <a:defRPr>
                <a:solidFill>
                  <a:srgbClr val="F0F0F0"/>
                </a:solidFill>
              </a:defRPr>
            </a:pPr>
            <a:r>
              <a:t>Олефіренко Я.В.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FF"/>
                </a:solidFill>
              </a:defRPr>
            </a:pPr>
            <a:r>
              <a:t>Вступ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>
                <a:solidFill>
                  <a:srgbClr val="DCDCDC"/>
                </a:solidFill>
              </a:defRPr>
            </a:pPr>
            <a:r>
              <a:t>Аналіз поведінки криптовалюти Toncoin.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t>Використано методи математичної статистики.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t>Реальні ринкові дані з Binance.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FF"/>
                </a:solidFill>
              </a:defRPr>
            </a:pPr>
            <a:r>
              <a:t>Теоретична частина: Toncoin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>
                <a:solidFill>
                  <a:srgbClr val="DCDCDC"/>
                </a:solidFill>
              </a:defRPr>
            </a:pPr>
            <a:r>
              <a:t>Швидкі транзакції.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t>Масштабована інфраструктура.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t>Інтеграція з Telegram.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FF"/>
                </a:solidFill>
              </a:defRPr>
            </a:pPr>
            <a:r>
              <a:t>Статистичні методи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882896" cy="4525963"/>
          </a:xfrm>
        </p:spPr>
        <p:txBody>
          <a:bodyPr/>
          <a:lstStyle/>
          <a:p>
            <a:endParaRPr dirty="0"/>
          </a:p>
          <a:p>
            <a:pPr>
              <a:defRPr>
                <a:solidFill>
                  <a:srgbClr val="DCDCDC"/>
                </a:solidFill>
              </a:defRPr>
            </a:pPr>
            <a:r>
              <a:rPr dirty="0" err="1"/>
              <a:t>Описова</a:t>
            </a:r>
            <a:r>
              <a:rPr dirty="0"/>
              <a:t> </a:t>
            </a:r>
            <a:r>
              <a:rPr dirty="0" err="1"/>
              <a:t>статистика</a:t>
            </a:r>
            <a:r>
              <a:rPr dirty="0"/>
              <a:t>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rPr dirty="0" err="1"/>
              <a:t>Гістограма</a:t>
            </a:r>
            <a:r>
              <a:rPr dirty="0"/>
              <a:t> </a:t>
            </a:r>
            <a:r>
              <a:rPr dirty="0" err="1"/>
              <a:t>розподілу</a:t>
            </a:r>
            <a:r>
              <a:rPr dirty="0"/>
              <a:t>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rPr dirty="0" err="1"/>
              <a:t>Тест</a:t>
            </a:r>
            <a:r>
              <a:rPr dirty="0"/>
              <a:t> χ².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rPr dirty="0" err="1"/>
              <a:t>Лінійна</a:t>
            </a:r>
            <a:r>
              <a:rPr dirty="0"/>
              <a:t> </a:t>
            </a:r>
            <a:r>
              <a:rPr dirty="0" err="1"/>
              <a:t>регресія</a:t>
            </a:r>
            <a:r>
              <a:rPr dirty="0"/>
              <a:t>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rPr dirty="0" err="1"/>
              <a:t>Моделювання</a:t>
            </a:r>
            <a:r>
              <a:rPr dirty="0"/>
              <a:t> </a:t>
            </a:r>
            <a:r>
              <a:rPr dirty="0" err="1"/>
              <a:t>Монте-Карло</a:t>
            </a:r>
            <a:r>
              <a:rPr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80B56B-E990-8D4E-32D6-9404FCAAB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304" y="2300097"/>
            <a:ext cx="3611496" cy="27338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FF"/>
                </a:solidFill>
              </a:defRPr>
            </a:pPr>
            <a:r>
              <a:t>Описова статистика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>
                <a:solidFill>
                  <a:srgbClr val="DCDCDC"/>
                </a:solidFill>
              </a:defRPr>
            </a:pPr>
            <a:r>
              <a:t>Середнє, медіана, CV, std.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t>Показники волатильності.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FF"/>
                </a:solidFill>
              </a:defRPr>
            </a:pPr>
            <a:r>
              <a:t>Гістограма розподілу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r>
              <a:rPr dirty="0" err="1"/>
              <a:t>Візуалізація</a:t>
            </a:r>
            <a:r>
              <a:rPr dirty="0"/>
              <a:t> </a:t>
            </a:r>
            <a:r>
              <a:rPr dirty="0" err="1"/>
              <a:t>форми</a:t>
            </a:r>
            <a:r>
              <a:rPr dirty="0"/>
              <a:t> </a:t>
            </a:r>
            <a:r>
              <a:rPr dirty="0" err="1"/>
              <a:t>розподілу</a:t>
            </a:r>
            <a:r>
              <a:rPr dirty="0"/>
              <a:t> </a:t>
            </a:r>
            <a:r>
              <a:rPr dirty="0" err="1"/>
              <a:t>цін</a:t>
            </a:r>
            <a:r>
              <a:rPr dirty="0"/>
              <a:t>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rPr dirty="0" err="1"/>
              <a:t>Виявлення</a:t>
            </a:r>
            <a:r>
              <a:rPr dirty="0"/>
              <a:t> </a:t>
            </a:r>
            <a:r>
              <a:rPr dirty="0" err="1"/>
              <a:t>асиметрії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піків</a:t>
            </a:r>
            <a:r>
              <a:rPr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281D24-8A84-EF68-11E9-B725FA092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234" y="2889504"/>
            <a:ext cx="4662325" cy="36027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FF"/>
                </a:solidFill>
              </a:defRPr>
            </a:pPr>
            <a:r>
              <a:t>Тест χ²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r>
              <a:rPr dirty="0" err="1"/>
              <a:t>Перевірка</a:t>
            </a:r>
            <a:r>
              <a:rPr dirty="0"/>
              <a:t> </a:t>
            </a:r>
            <a:r>
              <a:rPr dirty="0" err="1"/>
              <a:t>відповідності</a:t>
            </a:r>
            <a:r>
              <a:rPr dirty="0"/>
              <a:t> </a:t>
            </a:r>
            <a:r>
              <a:rPr dirty="0" err="1"/>
              <a:t>нормальному</a:t>
            </a:r>
            <a:r>
              <a:rPr dirty="0"/>
              <a:t> </a:t>
            </a:r>
            <a:r>
              <a:rPr dirty="0" err="1"/>
              <a:t>розподілу</a:t>
            </a:r>
            <a:r>
              <a:rPr dirty="0"/>
              <a:t>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rPr dirty="0" err="1"/>
              <a:t>Фінансові</a:t>
            </a:r>
            <a:r>
              <a:rPr dirty="0"/>
              <a:t> </a:t>
            </a:r>
            <a:r>
              <a:rPr dirty="0" err="1"/>
              <a:t>ряди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ненормальні</a:t>
            </a:r>
            <a:r>
              <a:rPr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271A98-AB39-4D01-B438-5FAC869C7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116" y="3714606"/>
            <a:ext cx="4291767" cy="25194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FF"/>
                </a:solidFill>
              </a:defRPr>
            </a:pPr>
            <a:r>
              <a:t>Лінійна регресія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r>
              <a:rPr dirty="0" err="1"/>
              <a:t>Визначення</a:t>
            </a:r>
            <a:r>
              <a:rPr dirty="0"/>
              <a:t> </a:t>
            </a:r>
            <a:r>
              <a:rPr dirty="0" err="1"/>
              <a:t>тренду</a:t>
            </a:r>
            <a:r>
              <a:rPr dirty="0"/>
              <a:t>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rPr dirty="0" err="1"/>
              <a:t>Обчислення</a:t>
            </a:r>
            <a:r>
              <a:rPr dirty="0"/>
              <a:t> </a:t>
            </a:r>
            <a:r>
              <a:rPr dirty="0" err="1"/>
              <a:t>коефіцієнтів</a:t>
            </a:r>
            <a:r>
              <a:rPr dirty="0"/>
              <a:t> a </a:t>
            </a:r>
            <a:r>
              <a:rPr dirty="0" err="1"/>
              <a:t>та</a:t>
            </a:r>
            <a:r>
              <a:rPr dirty="0"/>
              <a:t> b.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0DBA90-8590-5EA5-6350-FF54C9468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54" y="2856865"/>
            <a:ext cx="7594092" cy="37970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FF"/>
                </a:solidFill>
              </a:defRPr>
            </a:pPr>
            <a:r>
              <a:t>Оцінка тренду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>
                <a:solidFill>
                  <a:srgbClr val="DCDCDC"/>
                </a:solidFill>
              </a:defRPr>
            </a:pPr>
            <a:r>
              <a:t>a &gt; 0 — зростання.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t>a &lt; 0 — зниження.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t>Корисно для довгострокових тенденцій.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FF"/>
                </a:solidFill>
              </a:defRPr>
            </a:pPr>
            <a:r>
              <a:t>Моделювання Монте-Карло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r>
              <a:rPr dirty="0" err="1"/>
              <a:t>Генерація</a:t>
            </a:r>
            <a:r>
              <a:rPr dirty="0"/>
              <a:t> </a:t>
            </a:r>
            <a:r>
              <a:rPr dirty="0" err="1"/>
              <a:t>можливих</a:t>
            </a:r>
            <a:r>
              <a:rPr dirty="0"/>
              <a:t> </a:t>
            </a:r>
            <a:r>
              <a:rPr dirty="0" err="1"/>
              <a:t>сценаріїв</a:t>
            </a:r>
            <a:r>
              <a:rPr dirty="0"/>
              <a:t>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rPr dirty="0" err="1"/>
              <a:t>Прогнозування</a:t>
            </a:r>
            <a:r>
              <a:rPr dirty="0"/>
              <a:t> </a:t>
            </a:r>
            <a:r>
              <a:rPr dirty="0" err="1"/>
              <a:t>волатильності</a:t>
            </a:r>
            <a:r>
              <a:rPr lang="uk-UA" dirty="0"/>
              <a:t>.</a:t>
            </a:r>
          </a:p>
          <a:p>
            <a:pPr marL="0" indent="0">
              <a:buNone/>
              <a:defRPr>
                <a:solidFill>
                  <a:srgbClr val="DCDCDC"/>
                </a:solidFill>
              </a:defRPr>
            </a:pP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52C5C2-0967-E64D-CBC4-60CEA3EA5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479" y="2835614"/>
            <a:ext cx="4989041" cy="37477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FF"/>
                </a:solidFill>
              </a:defRPr>
            </a:pPr>
            <a:r>
              <a:t>Сценарний аналіз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>
                <a:solidFill>
                  <a:srgbClr val="DCDCDC"/>
                </a:solidFill>
              </a:defRPr>
            </a:pPr>
            <a:r>
              <a:t>Кожна лінія — окрема симуляція.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t>Відображає невизначеність ринку.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FF"/>
                </a:solidFill>
              </a:defRPr>
            </a:pPr>
            <a:r>
              <a:t>Програмна реалізація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782312" cy="4525963"/>
          </a:xfrm>
        </p:spPr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r>
              <a:rPr dirty="0" err="1"/>
              <a:t>Tkinter</a:t>
            </a:r>
            <a:r>
              <a:rPr dirty="0"/>
              <a:t> — </a:t>
            </a:r>
            <a:r>
              <a:rPr dirty="0" err="1"/>
              <a:t>графічний</a:t>
            </a:r>
            <a:r>
              <a:rPr dirty="0"/>
              <a:t> </a:t>
            </a:r>
            <a:r>
              <a:rPr dirty="0" err="1"/>
              <a:t>інтерфейс</a:t>
            </a:r>
            <a:r>
              <a:rPr dirty="0"/>
              <a:t>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rPr dirty="0"/>
              <a:t>Matplotlib — </a:t>
            </a:r>
            <a:r>
              <a:rPr dirty="0" err="1"/>
              <a:t>побудова</a:t>
            </a:r>
            <a:r>
              <a:rPr dirty="0"/>
              <a:t> </a:t>
            </a:r>
            <a:r>
              <a:rPr dirty="0" err="1"/>
              <a:t>графіків</a:t>
            </a:r>
            <a:r>
              <a:rPr dirty="0"/>
              <a:t>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rPr dirty="0"/>
              <a:t>API Binance.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1FA5DC-5FB6-2F77-8D66-C4D430170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659" y="1600200"/>
            <a:ext cx="3432595" cy="37618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FF"/>
                </a:solidFill>
              </a:defRPr>
            </a:pPr>
            <a:r>
              <a:t>Архітектура застосунку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>
                <a:solidFill>
                  <a:srgbClr val="DCDCDC"/>
                </a:solidFill>
              </a:defRPr>
            </a:pPr>
            <a:r>
              <a:t>Клас ToncoinAdvancedApp.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t>Методи аналізу та відображення.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FF"/>
                </a:solidFill>
              </a:defRPr>
            </a:pPr>
            <a:r>
              <a:t>Отримання даних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>
                <a:solidFill>
                  <a:srgbClr val="DCDCDC"/>
                </a:solidFill>
              </a:defRPr>
            </a:pPr>
            <a:r>
              <a:t>Kline API (TONUSDT).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t>Щоденні значення ціни.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99FF"/>
                </a:solidFill>
              </a:defRPr>
            </a:pPr>
            <a:r>
              <a:t>Висновки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>
                <a:solidFill>
                  <a:srgbClr val="DCDCDC"/>
                </a:solidFill>
              </a:defRPr>
            </a:pPr>
            <a:r>
              <a:t>Toncoin — волатильна криптовалюта.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t>Ціна не підпорядковується нормальному розподілу.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t>Лінійна регресія показує тренд.</a:t>
            </a:r>
          </a:p>
          <a:p>
            <a:pPr>
              <a:defRPr>
                <a:solidFill>
                  <a:srgbClr val="DCDCDC"/>
                </a:solidFill>
              </a:defRPr>
            </a:pPr>
            <a:r>
              <a:t>Монте-Карло демонструє широкий діапазон прогнозів.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206</Words>
  <Application>Microsoft Office PowerPoint</Application>
  <PresentationFormat>Екран (4:3)</PresentationFormat>
  <Paragraphs>63</Paragraphs>
  <Slides>15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Статистичний аналіз ціни Toncoin</vt:lpstr>
      <vt:lpstr>Вступ</vt:lpstr>
      <vt:lpstr>Теоретична частина: Toncoin</vt:lpstr>
      <vt:lpstr>Статистичні методи</vt:lpstr>
      <vt:lpstr>Описова статистика</vt:lpstr>
      <vt:lpstr>Гістограма розподілу</vt:lpstr>
      <vt:lpstr>Тест χ²</vt:lpstr>
      <vt:lpstr>Лінійна регресія</vt:lpstr>
      <vt:lpstr>Оцінка тренду</vt:lpstr>
      <vt:lpstr>Моделювання Монте-Карло</vt:lpstr>
      <vt:lpstr>Сценарний аналіз</vt:lpstr>
      <vt:lpstr>Програмна реалізація</vt:lpstr>
      <vt:lpstr>Архітектура застосунку</vt:lpstr>
      <vt:lpstr>Отримання даних</vt:lpstr>
      <vt:lpstr>Висновки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Ярослав Олефіренко</dc:creator>
  <cp:keywords/>
  <dc:description>generated using python-pptx</dc:description>
  <cp:lastModifiedBy>Ярослав Вадимович Олефіренко</cp:lastModifiedBy>
  <cp:revision>2</cp:revision>
  <dcterms:created xsi:type="dcterms:W3CDTF">2013-01-27T09:14:16Z</dcterms:created>
  <dcterms:modified xsi:type="dcterms:W3CDTF">2025-12-10T21:13:44Z</dcterms:modified>
  <cp:category/>
</cp:coreProperties>
</file>